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DBD"/>
          </a:solidFill>
          <a:ln w="12700">
            <a:solidFill>
              <a:srgbClr val="14BDB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3152"/>
          </a:xfrm>
          <a:prstGeom prst="rect">
            <a:avLst/>
          </a:prstGeom>
          <a:solidFill>
            <a:srgbClr val="14BDBD"/>
          </a:solidFill>
          <a:ln w="12700">
            <a:solidFill>
              <a:srgbClr val="14BD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640080"/>
            <a:ext cx="1645920" cy="1645920"/>
          </a:xfrm>
          <a:prstGeom prst="ellipse">
            <a:avLst/>
          </a:prstGeom>
          <a:solidFill>
            <a:srgbClr val="0D7377">
              <a:alpha val="30000"/>
            </a:srgbClr>
          </a:solidFill>
          <a:ln w="19050">
            <a:solidFill>
              <a:srgbClr val="14BD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640080"/>
            <a:ext cx="1645920" cy="1645920"/>
          </a:xfrm>
          <a:prstGeom prst="ellipse">
            <a:avLst/>
          </a:prstGeom>
          <a:solidFill>
            <a:srgbClr val="0D7377">
              <a:alpha val="30000"/>
            </a:srgbClr>
          </a:solidFill>
          <a:ln w="19050">
            <a:solidFill>
              <a:srgbClr val="14B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11480" y="2514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11480" y="3063240"/>
            <a:ext cx="5029200" cy="36576"/>
          </a:xfrm>
          <a:prstGeom prst="rect">
            <a:avLst/>
          </a:prstGeom>
          <a:solidFill>
            <a:srgbClr val="14BDBD"/>
          </a:solidFill>
          <a:ln w="12700">
            <a:solidFill>
              <a:srgbClr val="14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Hannah Johnson</a:t>
            </a:r>
            <a:pPr indent="0" marL="0">
              <a:buNone/>
            </a:pPr>
            <a:r>
              <a:rPr lang="en-US" sz="15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5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AAI201 Machine Learning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– Designing a Machine Learning Solution  |  May 5,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4663440"/>
            <a:ext cx="1005840" cy="36576"/>
          </a:xfrm>
          <a:prstGeom prst="rect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4663440"/>
            <a:ext cx="1005840" cy="36576"/>
          </a:xfrm>
          <a:prstGeom prst="rect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4663440"/>
            <a:ext cx="1005840" cy="36576"/>
          </a:xfrm>
          <a:prstGeom prst="rect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4663440"/>
            <a:ext cx="1005840" cy="36576"/>
          </a:xfrm>
          <a:prstGeom prst="rect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7880" y="4663440"/>
            <a:ext cx="1005840" cy="36576"/>
          </a:xfrm>
          <a:prstGeom prst="rect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4663440"/>
            <a:ext cx="1005840" cy="36576"/>
          </a:xfrm>
          <a:prstGeom prst="rect">
            <a:avLst/>
          </a:prstGeom>
          <a:solidFill>
            <a:srgbClr val="0D7377">
              <a:alpha val="40000"/>
            </a:srgbClr>
          </a:solidFill>
          <a:ln w="12700">
            <a:solidFill>
              <a:srgbClr val="0D737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14BDBD"/>
          </a:solidFill>
          <a:ln w="12700">
            <a:solidFill>
              <a:srgbClr val="14BD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25400">
            <a:solidFill>
              <a:srgbClr val="D645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34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Cause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Death in U.S.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28600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2331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4320" y="27889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 are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Heart-Related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338328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3429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74320" y="3886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Saves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1143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34640" y="1536192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classification model</a:t>
            </a:r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predicts whether a patient has heart disease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13 routine clinical measurements.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22860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Impacts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834640" y="2670048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67004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— Earlier diagnosis, earlier treatment, better outcomes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34640" y="3182112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318211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— Decision-support tool to prioritize high-risk cases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34640" y="3694176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69417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systems — Reduce unnecessary expensive diagnostics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834640" y="4206240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420624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Underserved communities — Low-resource screening tool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&amp; Preprocessing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14BDBD"/>
          </a:solidFill>
          <a:ln w="12700">
            <a:solidFill>
              <a:srgbClr val="14BD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14300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8FAFC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344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Heart Disease Dataset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5727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Cleveland Subset — 303 patients, 13 features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" y="1901952"/>
            <a:ext cx="4078224" cy="384048"/>
          </a:xfrm>
          <a:prstGeom prst="rect">
            <a:avLst/>
          </a:prstGeom>
          <a:solidFill>
            <a:srgbClr val="F0F7FA"/>
          </a:solidFill>
          <a:ln w="6350">
            <a:solidFill>
              <a:srgbClr val="E0EE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9202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sex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19202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" y="2304288"/>
            <a:ext cx="407822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232257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cp, trestbps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232257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symptoms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" y="2706624"/>
            <a:ext cx="4078224" cy="384048"/>
          </a:xfrm>
          <a:prstGeom prst="rect">
            <a:avLst/>
          </a:prstGeom>
          <a:solidFill>
            <a:srgbClr val="F0F7FA"/>
          </a:solidFill>
          <a:ln w="6350">
            <a:solidFill>
              <a:srgbClr val="E0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27249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chol, fbs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27249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markers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6888" y="3108960"/>
            <a:ext cx="407822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31272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restecg, thalach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31272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measurements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" y="3511296"/>
            <a:ext cx="4078224" cy="384048"/>
          </a:xfrm>
          <a:prstGeom prst="rect">
            <a:avLst/>
          </a:prstGeom>
          <a:solidFill>
            <a:srgbClr val="F0F7FA"/>
          </a:solidFill>
          <a:ln w="6350">
            <a:solidFill>
              <a:srgbClr val="E0EE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352958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exang, oldpeak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0" y="35295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response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6888" y="3913632"/>
            <a:ext cx="407822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E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" y="39319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slope, ca, thal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11680" y="39319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cardiac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6888" y="4315968"/>
            <a:ext cx="4078224" cy="384048"/>
          </a:xfrm>
          <a:prstGeom prst="rect">
            <a:avLst/>
          </a:prstGeom>
          <a:solidFill>
            <a:srgbClr val="D6F5F5"/>
          </a:solidFill>
          <a:ln w="6350">
            <a:solidFill>
              <a:srgbClr val="E0EE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" y="433425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11680" y="433425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0=Healthy, 1=Disease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63440" y="11704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663440" y="1600200"/>
            <a:ext cx="347472" cy="3474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20640" y="1600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2064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6 rows with missing ca/thal values (&lt;2% of data)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32604" y="1947672"/>
            <a:ext cx="0" cy="329184"/>
          </a:xfrm>
          <a:prstGeom prst="line">
            <a:avLst/>
          </a:prstGeom>
          <a:noFill/>
          <a:ln w="19050">
            <a:solidFill>
              <a:srgbClr val="8FAFC2"/>
            </a:solidFill>
            <a:prstDash val="dot"/>
          </a:ln>
        </p:spPr>
      </p:sp>
      <p:sp>
        <p:nvSpPr>
          <p:cNvPr id="35" name="Shape 33"/>
          <p:cNvSpPr/>
          <p:nvPr/>
        </p:nvSpPr>
        <p:spPr>
          <a:xfrm>
            <a:off x="4663440" y="2276856"/>
            <a:ext cx="347472" cy="347472"/>
          </a:xfrm>
          <a:prstGeom prst="ellipse">
            <a:avLst/>
          </a:prstGeom>
          <a:solidFill>
            <a:srgbClr val="F4A93A"/>
          </a:solidFill>
          <a:ln w="12700">
            <a:solidFill>
              <a:srgbClr val="F4A9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2276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20640" y="22768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Binarize Target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20640" y="2459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codes 0–4; binarized to 0=healthy, 1=disease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32604" y="2624328"/>
            <a:ext cx="0" cy="329184"/>
          </a:xfrm>
          <a:prstGeom prst="line">
            <a:avLst/>
          </a:prstGeom>
          <a:noFill/>
          <a:ln w="19050">
            <a:solidFill>
              <a:srgbClr val="8FAFC2"/>
            </a:solidFill>
            <a:prstDash val="dot"/>
          </a:ln>
        </p:spPr>
      </p:sp>
      <p:sp>
        <p:nvSpPr>
          <p:cNvPr id="40" name="Shape 38"/>
          <p:cNvSpPr/>
          <p:nvPr/>
        </p:nvSpPr>
        <p:spPr>
          <a:xfrm>
            <a:off x="4663440" y="2953512"/>
            <a:ext cx="347472" cy="3474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2953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120640" y="29535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 Split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120640" y="3136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 / 15% validation / 15% test (stratified)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32604" y="3300984"/>
            <a:ext cx="0" cy="329184"/>
          </a:xfrm>
          <a:prstGeom prst="line">
            <a:avLst/>
          </a:prstGeom>
          <a:noFill/>
          <a:ln w="19050">
            <a:solidFill>
              <a:srgbClr val="8FAFC2"/>
            </a:solidFill>
            <a:prstDash val="dot"/>
          </a:ln>
        </p:spPr>
      </p:sp>
      <p:sp>
        <p:nvSpPr>
          <p:cNvPr id="45" name="Shape 43"/>
          <p:cNvSpPr/>
          <p:nvPr/>
        </p:nvSpPr>
        <p:spPr>
          <a:xfrm>
            <a:off x="4663440" y="3630168"/>
            <a:ext cx="347472" cy="347472"/>
          </a:xfrm>
          <a:prstGeom prst="ellipse">
            <a:avLst/>
          </a:prstGeom>
          <a:solidFill>
            <a:srgbClr val="D64541"/>
          </a:solidFill>
          <a:ln w="12700">
            <a:solidFill>
              <a:srgbClr val="D6454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3630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120640" y="3630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120640" y="3813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— fit on train only, transform all sets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32604" y="3977640"/>
            <a:ext cx="0" cy="329184"/>
          </a:xfrm>
          <a:prstGeom prst="line">
            <a:avLst/>
          </a:prstGeom>
          <a:noFill/>
          <a:ln w="19050">
            <a:solidFill>
              <a:srgbClr val="8FAFC2"/>
            </a:solidFill>
            <a:prstDash val="dot"/>
          </a:ln>
        </p:spPr>
      </p:sp>
      <p:sp>
        <p:nvSpPr>
          <p:cNvPr id="50" name="Shape 48"/>
          <p:cNvSpPr/>
          <p:nvPr/>
        </p:nvSpPr>
        <p:spPr>
          <a:xfrm>
            <a:off x="4663440" y="4306824"/>
            <a:ext cx="347472" cy="347472"/>
          </a:xfrm>
          <a:prstGeom prst="ellipse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4306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120640" y="43068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Balancing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120640" y="4489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oversampling on training set only for bias mitigation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Design &amp;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14BDBD"/>
          </a:solidFill>
          <a:ln w="12700">
            <a:solidFill>
              <a:srgbClr val="14BD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97280"/>
            <a:ext cx="1554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1554480" cy="384048"/>
          </a:xfrm>
          <a:prstGeom prst="rect">
            <a:avLst/>
          </a:prstGeom>
          <a:solidFill>
            <a:srgbClr val="3D5A73"/>
          </a:solidFill>
          <a:ln w="12700">
            <a:solidFill>
              <a:srgbClr val="3D5A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97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508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65960" y="1097280"/>
            <a:ext cx="1554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65960" y="1097280"/>
            <a:ext cx="155448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1097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65960" y="1508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03320" y="1097280"/>
            <a:ext cx="1554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03320" y="1097280"/>
            <a:ext cx="155448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1097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03320" y="1508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40680" y="1097280"/>
            <a:ext cx="1554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9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40680" y="1097280"/>
            <a:ext cx="1554480" cy="384048"/>
          </a:xfrm>
          <a:prstGeom prst="rect">
            <a:avLst/>
          </a:prstGeom>
          <a:solidFill>
            <a:srgbClr val="F4A93A"/>
          </a:solidFill>
          <a:ln w="12700">
            <a:solidFill>
              <a:srgbClr val="F4A9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1097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40680" y="1508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4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78040" y="1097280"/>
            <a:ext cx="1554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D645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78040" y="1097280"/>
            <a:ext cx="1554480" cy="384048"/>
          </a:xfrm>
          <a:prstGeom prst="rect">
            <a:avLst/>
          </a:prstGeom>
          <a:solidFill>
            <a:srgbClr val="D64541"/>
          </a:solidFill>
          <a:ln w="12700">
            <a:solidFill>
              <a:srgbClr val="D645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10972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Neural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78040" y="1508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★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29718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Model: MLP Neural Network Architecture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74320" y="33832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3D5A73"/>
          </a:solidFill>
          <a:ln w="12700">
            <a:solidFill>
              <a:srgbClr val="3D5A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4320" y="33832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features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0" y="4069080"/>
            <a:ext cx="457200" cy="0"/>
          </a:xfrm>
          <a:prstGeom prst="line">
            <a:avLst/>
          </a:prstGeom>
          <a:noFill/>
          <a:ln w="31750">
            <a:solidFill>
              <a:srgbClr val="F4A9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68880" y="33832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468880" y="33832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neurons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480560" y="4069080"/>
            <a:ext cx="457200" cy="0"/>
          </a:xfrm>
          <a:prstGeom prst="line">
            <a:avLst/>
          </a:prstGeom>
          <a:noFill/>
          <a:ln w="31750">
            <a:solidFill>
              <a:srgbClr val="F4A9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33832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BDBD"/>
          </a:solidFill>
          <a:ln w="12700">
            <a:solidFill>
              <a:srgbClr val="14BD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63440" y="33832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neurons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75120" y="4069080"/>
            <a:ext cx="457200" cy="0"/>
          </a:xfrm>
          <a:prstGeom prst="line">
            <a:avLst/>
          </a:prstGeom>
          <a:noFill/>
          <a:ln w="31750">
            <a:solidFill>
              <a:srgbClr val="F4A9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0" y="33832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858000" y="33832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neuron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800600"/>
            <a:ext cx="8595360" cy="246888"/>
          </a:xfrm>
          <a:prstGeom prst="rect">
            <a:avLst/>
          </a:prstGeom>
          <a:solidFill>
            <a:srgbClr val="D6F5F5"/>
          </a:solidFill>
          <a:ln w="12700">
            <a:solidFill>
              <a:srgbClr val="14BDB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80974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Justification: Complex nonlinear feature interactions (age × ST-depression × heart rate) warrant a neural architecture with hidden layers.  Regularization (L2, alpha=0.01) and early stopping prevent overfitting.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Mitigation &amp; Overfitting Prevention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14BDBD"/>
          </a:solidFill>
          <a:ln w="12700">
            <a:solidFill>
              <a:srgbClr val="14BD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9728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8FAFC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4206240" cy="365760"/>
          </a:xfrm>
          <a:prstGeom prst="rect">
            <a:avLst/>
          </a:prstGeom>
          <a:solidFill>
            <a:srgbClr val="D64541"/>
          </a:solidFill>
          <a:ln w="12700">
            <a:solidFill>
              <a:srgbClr val="D645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97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FAIRNESS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Sex Imbalance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847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male / 32% female patients in dataset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Geographic Bias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441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hospital, Cleveland, 1980s collection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Age Skew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035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cluster around age 54; limited youth data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429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Strategies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767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SMOTE — synthetic oversampling of minority class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059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class_weight="balanced" in all applicable models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3525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Stratified splits — balanced classes in every set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6451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Subgroup evaluation — metrics broken down by sex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09728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8FAFC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097280"/>
            <a:ext cx="4206240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097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PREVENTION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1600200"/>
            <a:ext cx="274320" cy="2743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66360" y="16002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Regularization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66360" y="17922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large weights in LR (C=1.0) and MLP (alpha=0.01)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2249424"/>
            <a:ext cx="274320" cy="2743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66360" y="22494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66360" y="24414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halts when val loss plateaus — patience of 15 epochs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2898648"/>
            <a:ext cx="274320" cy="2743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66360" y="28986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Depth Limiting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66360" y="30906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DT: max_depth=5 | RF: max_depth=8 prevents memorization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3547872"/>
            <a:ext cx="274320" cy="2743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66360" y="35478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Averaging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66360" y="37398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averages 200 trees, reducing variance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4197096"/>
            <a:ext cx="274320" cy="2743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4197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66360" y="41970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66360" y="4389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CV gives unbiased generalization estimates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14BDBD"/>
          </a:solidFill>
          <a:ln w="12700">
            <a:solidFill>
              <a:srgbClr val="14BD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Set Performance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63040"/>
          <a:ext cx="5943600" cy="18288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822960"/>
                <a:gridCol w="822960"/>
                <a:gridCol w="731520"/>
                <a:gridCol w="73152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Naïve Bayes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Neural Network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FA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92240" y="109728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0" y="11430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492240" y="1645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F1-Score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92240" y="21488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92240" y="21945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6492240" y="2697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AUC-ROC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92240" y="320040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0D2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92240" y="32461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6492240" y="3749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74320" y="34290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Predictive Features (Random Forest Importance)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74320" y="3794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(chest pain type)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926080" y="3822192"/>
            <a:ext cx="3200400" cy="164592"/>
          </a:xfrm>
          <a:prstGeom prst="rect">
            <a:avLst/>
          </a:prstGeom>
          <a:solidFill>
            <a:srgbClr val="E8EEF4"/>
          </a:solidFill>
          <a:ln w="6350">
            <a:solidFill>
              <a:srgbClr val="8FAFC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926080" y="3822192"/>
            <a:ext cx="3200400" cy="1645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72200" y="38039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74320" y="40416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thalach (max heart rate)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926080" y="4069080"/>
            <a:ext cx="3200400" cy="164592"/>
          </a:xfrm>
          <a:prstGeom prst="rect">
            <a:avLst/>
          </a:prstGeom>
          <a:solidFill>
            <a:srgbClr val="E8EEF4"/>
          </a:solidFill>
          <a:ln w="6350">
            <a:solidFill>
              <a:srgbClr val="8FAFC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926080" y="4069080"/>
            <a:ext cx="2667000" cy="1645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38800" y="40507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74320" y="42885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(vessels, fluoroscopy)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926080" y="4315968"/>
            <a:ext cx="3200400" cy="164592"/>
          </a:xfrm>
          <a:prstGeom prst="rect">
            <a:avLst/>
          </a:prstGeom>
          <a:solidFill>
            <a:srgbClr val="E8EEF4"/>
          </a:solidFill>
          <a:ln w="6350">
            <a:solidFill>
              <a:srgbClr val="8FAFC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926080" y="4315968"/>
            <a:ext cx="2489200" cy="1645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61000" y="4297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274320" y="45354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oldpeak (ST depression)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926080" y="4562856"/>
            <a:ext cx="3200400" cy="164592"/>
          </a:xfrm>
          <a:prstGeom prst="rect">
            <a:avLst/>
          </a:prstGeom>
          <a:solidFill>
            <a:srgbClr val="E8EEF4"/>
          </a:solidFill>
          <a:ln w="6350">
            <a:solidFill>
              <a:srgbClr val="8FAFC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926080" y="4562856"/>
            <a:ext cx="2311400" cy="1645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283200" y="45445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274320" y="47823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 (thalassemia type)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2926080" y="4809744"/>
            <a:ext cx="3200400" cy="164592"/>
          </a:xfrm>
          <a:prstGeom prst="rect">
            <a:avLst/>
          </a:prstGeom>
          <a:solidFill>
            <a:srgbClr val="E8EEF4"/>
          </a:solidFill>
          <a:ln w="6350">
            <a:solidFill>
              <a:srgbClr val="8FAFC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926080" y="4809744"/>
            <a:ext cx="1955800" cy="1645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27600" y="4791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DBD"/>
          </a:solidFill>
          <a:ln w="12700">
            <a:solidFill>
              <a:srgbClr val="14BD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14BDBD"/>
          </a:solidFill>
          <a:ln w="12700">
            <a:solidFill>
              <a:srgbClr val="14BD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206240" cy="1828800"/>
          </a:xfrm>
          <a:prstGeom prst="rect">
            <a:avLst/>
          </a:prstGeom>
          <a:solidFill>
            <a:srgbClr val="162D4A"/>
          </a:solidFill>
          <a:ln w="25400">
            <a:solidFill>
              <a:srgbClr val="14BD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48640" cy="1828800"/>
          </a:xfrm>
          <a:prstGeom prst="rect">
            <a:avLst/>
          </a:prstGeom>
          <a:solidFill>
            <a:srgbClr val="14BDBD"/>
          </a:solidFill>
          <a:ln w="12700">
            <a:solidFill>
              <a:srgbClr val="14B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548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23444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Matters Most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64592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effort was data prep: cleaning, splitting, scaling, and bias detection. Model choice came second.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206240" cy="1828800"/>
          </a:xfrm>
          <a:prstGeom prst="rect">
            <a:avLst/>
          </a:prstGeom>
          <a:solidFill>
            <a:srgbClr val="162D4A"/>
          </a:solidFill>
          <a:ln w="25400">
            <a:solidFill>
              <a:srgbClr val="F4A9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05840"/>
            <a:ext cx="548640" cy="1828800"/>
          </a:xfrm>
          <a:prstGeom prst="rect">
            <a:avLst/>
          </a:prstGeom>
          <a:solidFill>
            <a:srgbClr val="F4A93A"/>
          </a:solidFill>
          <a:ln w="12700">
            <a:solidFill>
              <a:srgbClr val="F4A9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005840"/>
            <a:ext cx="548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94960" y="123444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vs. Power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164592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nearly matched MLP performance. Simpler models should always be the starting point.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4206240" cy="1828800"/>
          </a:xfrm>
          <a:prstGeom prst="rect">
            <a:avLst/>
          </a:prstGeom>
          <a:solidFill>
            <a:srgbClr val="162D4A"/>
          </a:solidFill>
          <a:ln w="25400">
            <a:solidFill>
              <a:srgbClr val="D645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63240"/>
            <a:ext cx="548640" cy="1828800"/>
          </a:xfrm>
          <a:prstGeom prst="rect">
            <a:avLst/>
          </a:prstGeom>
          <a:solidFill>
            <a:srgbClr val="D64541"/>
          </a:solidFill>
          <a:ln w="12700">
            <a:solidFill>
              <a:srgbClr val="D645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63240"/>
            <a:ext cx="548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329184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AI Requires Fairness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70332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aggregate accuracy can hide poor performance on female patients. Subgroup analysis is non-negotiable.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063240"/>
            <a:ext cx="4206240" cy="1828800"/>
          </a:xfrm>
          <a:prstGeom prst="rect">
            <a:avLst/>
          </a:prstGeom>
          <a:solidFill>
            <a:srgbClr val="162D4A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063240"/>
            <a:ext cx="548640" cy="1828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063240"/>
            <a:ext cx="548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329184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Discipline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370332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and SMOTE must be fit on training data only. Even small leakage inflates results artificially.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Hannah Johnson  |  AAI201 Machine Learning  |  Capstone Project  | 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Prediction – AAI201 Capstone</dc:title>
  <dc:subject>PptxGenJS Presentation</dc:subject>
  <dc:creator>Hannah Johnson</dc:creator>
  <cp:lastModifiedBy>Hannah Johnson</cp:lastModifiedBy>
  <cp:revision>1</cp:revision>
  <dcterms:created xsi:type="dcterms:W3CDTF">2026-05-06T01:43:36Z</dcterms:created>
  <dcterms:modified xsi:type="dcterms:W3CDTF">2026-05-06T01:43:36Z</dcterms:modified>
</cp:coreProperties>
</file>